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F4E79"/>
                </a:solidFill>
                <a:latin typeface="Calibri"/>
              </a:rPr>
              <a:t>RoboCasa365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2331720"/>
            <a:ext cx="7589520" cy="127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2316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62626"/>
                </a:solidFill>
                <a:latin typeface="Calibri"/>
              </a:rPr>
              <a:t>A Large-Scale Benchmark for Long-Horizon Robot Learning in Kitchen Environments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46120"/>
            <a:ext cx="2651760" cy="1234440"/>
          </a:xfrm>
          <a:prstGeom prst="rect">
            <a:avLst/>
          </a:prstGeom>
          <a:noFill/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37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Calibri"/>
              </a:rPr>
              <a:t>365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136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65 atomic + 300 composite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3246120"/>
            <a:ext cx="2651760" cy="1234440"/>
          </a:xfrm>
          <a:prstGeom prst="rect">
            <a:avLst/>
          </a:prstGeom>
          <a:noFill/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3337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Calibri"/>
              </a:rPr>
              <a:t>2,290+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9136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demo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246120"/>
            <a:ext cx="2651760" cy="1234440"/>
          </a:xfrm>
          <a:prstGeom prst="rect">
            <a:avLst/>
          </a:prstGeom>
          <a:noFill/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337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Calibri"/>
              </a:rPr>
              <a:t>2,500+ Scenes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9136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diverse kitchen layouts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3246120"/>
            <a:ext cx="2651760" cy="1234440"/>
          </a:xfrm>
          <a:prstGeom prst="rect">
            <a:avLst/>
          </a:prstGeom>
          <a:noFill/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3337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Calibri"/>
              </a:rPr>
              <a:t>ICLR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9136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arxiv:2603.04356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robocasa.ai   ·   Hossein Souri et al., ICLR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Calibri"/>
              </a:rPr>
              <a:t>RoboCasa365 —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1274552" cy="127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RoboCasa365 is a large-scale simulation benchmark for training and evaluating generalist robot policies in kitchen environments. The robot must combine mobile navigation, dexterous manipulation, and long-horizon task planning across 365 diverse tasks.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828800" cy="1097280"/>
          </a:xfrm>
          <a:prstGeom prst="rect">
            <a:avLst/>
          </a:prstGeom>
          <a:solidFill>
            <a:srgbClr val="D6E4F0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  <a:latin typeface="Calibri"/>
              </a:rPr>
              <a:t>365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99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Total Tasks
(65 atomic + 300 composite)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508760"/>
            <a:ext cx="1828800" cy="1097280"/>
          </a:xfrm>
          <a:prstGeom prst="rect">
            <a:avLst/>
          </a:prstGeom>
          <a:solidFill>
            <a:srgbClr val="D6E4F0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5544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  <a:latin typeface="Calibri"/>
              </a:rPr>
              <a:t>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0299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Activity Categories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1828800" cy="1097280"/>
          </a:xfrm>
          <a:prstGeom prst="rect">
            <a:avLst/>
          </a:prstGeom>
          <a:solidFill>
            <a:srgbClr val="D6E4F0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544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  <a:latin typeface="Calibri"/>
              </a:rPr>
              <a:t>2,500+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0299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Unique Kitchen Scenes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508760"/>
            <a:ext cx="1828800" cy="1097280"/>
          </a:xfrm>
          <a:prstGeom prst="rect">
            <a:avLst/>
          </a:prstGeom>
          <a:solidFill>
            <a:srgbClr val="D6E4F0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544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  <a:latin typeface="Calibri"/>
              </a:rPr>
              <a:t>2,290+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299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Hours of Demo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508760"/>
            <a:ext cx="1828800" cy="1097280"/>
          </a:xfrm>
          <a:prstGeom prst="rect">
            <a:avLst/>
          </a:prstGeom>
          <a:solidFill>
            <a:srgbClr val="D6E4F0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5544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  <a:latin typeface="Calibri"/>
              </a:rPr>
              <a:t>2,200+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299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3D Kitchen Objects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87000" y="1508760"/>
            <a:ext cx="1828800" cy="1097280"/>
          </a:xfrm>
          <a:prstGeom prst="rect">
            <a:avLst/>
          </a:prstGeom>
          <a:solidFill>
            <a:srgbClr val="D6E4F0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7000" y="15544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  <a:latin typeface="Calibri"/>
              </a:rPr>
              <a:t>20 Hz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20299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Control Frequency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62626"/>
                </a:solidFill>
                <a:latin typeface="Calibri"/>
              </a:rPr>
              <a:t>Robot:          Franka Panda arm on Omron mobile base (PandaOmron)</a:t>
            </a:r>
          </a:p>
          <a:p>
            <a:pPr algn="l"/>
            <a:r>
              <a:rPr sz="1300">
                <a:solidFill>
                  <a:srgbClr val="262626"/>
                </a:solidFill>
                <a:latin typeface="Calibri"/>
              </a:rPr>
              <a:t>Simulator:      MuJoCo via RoboSuite</a:t>
            </a:r>
          </a:p>
          <a:p>
            <a:pPr algn="l"/>
            <a:r>
              <a:rPr sz="1300">
                <a:solidFill>
                  <a:srgbClr val="262626"/>
                </a:solidFill>
                <a:latin typeface="Calibri"/>
              </a:rPr>
              <a:t>Pretrain data:  100 human demos × 300 tasks = ~30,000 episodes</a:t>
            </a:r>
          </a:p>
          <a:p>
            <a:pPr algn="l"/>
            <a:r>
              <a:rPr sz="1300">
                <a:solidFill>
                  <a:srgbClr val="262626"/>
                </a:solidFill>
                <a:latin typeface="Calibri"/>
              </a:rPr>
              <a:t>Target data:    500 human demos × 50 tasks = ~25,000 episodes</a:t>
            </a:r>
          </a:p>
          <a:p>
            <a:pPr algn="l"/>
            <a:r>
              <a:rPr sz="1300">
                <a:solidFill>
                  <a:srgbClr val="262626"/>
                </a:solidFill>
                <a:latin typeface="Calibri"/>
              </a:rPr>
              <a:t>Synthetic data: ~10,000 MimicGen demos × 60 atomic tasks = 600,000+ episodes</a:t>
            </a:r>
          </a:p>
          <a:p>
            <a:pPr algn="l"/>
            <a:r>
              <a:rPr sz="1300">
                <a:solidFill>
                  <a:srgbClr val="262626"/>
                </a:solidFill>
                <a:latin typeface="Calibri"/>
              </a:rPr>
              <a:t>Evaluation:     3 protocols — Multi-Task, Foundation Model, Lifelong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Calibri"/>
              </a:rPr>
              <a:t>Task Taxonomy: Atomic vs. Composite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1274552" cy="127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5486400" cy="5120640"/>
          </a:xfrm>
          <a:prstGeom prst="rect">
            <a:avLst/>
          </a:prstGeom>
          <a:noFill/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Calibri"/>
              </a:rPr>
              <a:t>Atomic Tasks (65 total)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5212080" cy="12700"/>
          </a:xfrm>
          <a:prstGeom prst="rect">
            <a:avLst/>
          </a:prstGeom>
          <a:noFill/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Single-skill, single-step tasks across 14 fixture types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• Navigation:       NavigateKitchen (1 task)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• Pick &amp; Place:     20 variants (counter ↔ fridge, sink, oven, microwave…)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• Door / Drawer:    Open/Close for 6 appliance types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• Appliance ctrl:   Stove knobs, faucets, blender, toaster…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• Fine manipulation: Adjust temp, turn spout, slide racks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Horizon:  200 – 700 steps (10 – 35 s @ 20 Hz)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Demos:    ~100 human demos/task · 6,500 total episodes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MimicGen: 60/65 tasks → ~10,000 synthetic demos each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822960"/>
            <a:ext cx="5486400" cy="5120640"/>
          </a:xfrm>
          <a:prstGeom prst="rect">
            <a:avLst/>
          </a:prstGeom>
          <a:noFill/>
          <a:ln w="12700">
            <a:solidFill>
              <a:srgbClr val="C5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914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55000"/>
                </a:solidFill>
                <a:latin typeface="Calibri"/>
              </a:rPr>
              <a:t>Composite Tasks (300 total — 60 categories)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1280160"/>
            <a:ext cx="5212080" cy="12700"/>
          </a:xfrm>
          <a:prstGeom prst="rect">
            <a:avLst/>
          </a:prstGeom>
          <a:noFill/>
          <a:ln w="6350">
            <a:solidFill>
              <a:srgbClr val="C5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37160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Multi-step long-horizon tasks — 2 to 10+ sequential sub-goals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• Require planning over a sequence of manipulation skills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• Cover 60 activity categories (cooking, cleaning, organizing…)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• Example: MakeBananaMilkshake =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    open fridge → pick banana → place in blender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    → close lid → turn on blender → …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Horizon:  400 – 4,800 steps (20 – 240 s @ 20 Hz)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Demos:    ~100 human demos/task · 31,922 total episodes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Target:   50 tasks held-out for evaluation (16 composite seen,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          16 composite unseen)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Calibri"/>
              </a:rPr>
              <a:t>Navigation &amp; Mobile Manipulation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1274552" cy="127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The robot uses an Omron mobile base for navigation. However, the vast majority of tasks are pure manipulation — the robot starts near the relevant fixture and uses only its arm.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77724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200400"/>
                <a:gridCol w="329184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Tasks Requiring Navigation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Pure Manipulation Tasks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Atomic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 / 65   (1.5%)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64 / 65   (98.5%)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Composite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 / 252  (1.2%)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249 / 252  (98.8%)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4E79"/>
                          </a:solidFill>
                          <a:latin typeface="Calibri"/>
                        </a:rPr>
                        <a:t>4 / 317  (1.3%)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75E23"/>
                          </a:solidFill>
                          <a:latin typeface="Calibri"/>
                        </a:rPr>
                        <a:t>313 / 317  (98.7%)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83464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Tasks that genuinely require mobile-base navigation: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182112"/>
          <a:ext cx="112471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920240"/>
                <a:gridCol w="6400800"/>
              </a:tblGrid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NavigateKitchen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Atomic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300 steps  (15 s)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Drive the mobile base to a target kitchen fixture</a:t>
                      </a:r>
                    </a:p>
                  </a:txBody>
                  <a:tcPr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ServeTea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Composite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900 steps  (45 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Pick teacup from microwave, navigate to dining table, place on saucer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PlaceDishesBySink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Composite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1,600 steps  (80 s)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Collect cup and bowl from counter, bring to the sink area</a:t>
                      </a:r>
                    </a:p>
                  </a:txBody>
                  <a:tcPr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HotDogSetup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Composite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2,800 steps  (140 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Gather bun from counter + sausage from fridge, deliver to dining table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029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These tasks use kitchen layouts where the destination fixture (dining table) is placed in a separate area, requiring the robot to traverse the kitchen with its mobile 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Calibri"/>
              </a:rPr>
              <a:t>Task Durations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1274552" cy="127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Composite task duration distribution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70432"/>
          <a:ext cx="53035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Duration Range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Percentage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&lt; 30 s  (very short)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30 – 60 s  (short)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60 – 100 s  (medium)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&gt; 100 s  (long)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249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Calibri"/>
              </a:rPr>
              <a:t>Summary statistics: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035808"/>
          <a:ext cx="530352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 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52 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46 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240 s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8229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10 longest tasks (by max horizon)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170432"/>
          <a:ext cx="5486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468880"/>
                <a:gridCol w="1005840"/>
                <a:gridCol w="1554480"/>
              </a:tblGrid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Steps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DivideBuffetTrays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4,800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240 s</a:t>
                      </a:r>
                    </a:p>
                  </a:txBody>
                  <a:tcPr>
                    <a:noFill/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RecycleSodaCans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225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PrepareDrinkStation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3,900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195 s</a:t>
                      </a:r>
                    </a:p>
                  </a:txBody>
                  <a:tcPr>
                    <a:noFill/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SetBowlsForSoup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3,600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180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SpicyMarinade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3,600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180 s</a:t>
                      </a:r>
                    </a:p>
                  </a:txBody>
                  <a:tcPr>
                    <a:noFill/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BeverageSorting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175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PrepareCocktailStation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3,500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175 s</a:t>
                      </a:r>
                    </a:p>
                  </a:txBody>
                  <a:tcPr>
                    <a:noFill/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ArrangeUtensilsByType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3,400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170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ReturnWashingSupplies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3,400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170 s</a:t>
                      </a:r>
                    </a:p>
                  </a:txBody>
                  <a:tcPr>
                    <a:noFill/>
                  </a:tcPr>
                </a:tc>
              </a:tr>
              <a:tr h="2992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ClearSink / PackFoodByTemp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3,300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165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Calibri"/>
              </a:rPr>
              <a:t>Benchmark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1274552" cy="127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8229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417320"/>
                <a:gridCol w="1188720"/>
                <a:gridCol w="1097280"/>
                <a:gridCol w="40690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LIBERO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LIBERO-Long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MetaWorld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Calvin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RoboCasa365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Total tasks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4E79"/>
                          </a:solidFill>
                          <a:latin typeface="Calibri"/>
                        </a:rPr>
                        <a:t>365</a:t>
                      </a:r>
                    </a:p>
                  </a:txBody>
                  <a:tcPr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Long-horizon tasks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4–6 steps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Chained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4E79"/>
                          </a:solidFill>
                          <a:latin typeface="Calibri"/>
                        </a:rPr>
                        <a:t>300 (2–10+ steps)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Typical episode length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15–30 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60–120 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5–15 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30–60 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4E79"/>
                          </a:solidFill>
                          <a:latin typeface="Calibri"/>
                        </a:rPr>
                        <a:t>10–240 s (avg 52 s)</a:t>
                      </a:r>
                    </a:p>
                  </a:txBody>
                  <a:tcPr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Navigation / mobile base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4E79"/>
                          </a:solidFill>
                          <a:latin typeface="Calibri"/>
                        </a:rPr>
                        <a:t>Yes — full mobile base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Scene diversity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~10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~10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Single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4E79"/>
                          </a:solidFill>
                          <a:latin typeface="Calibri"/>
                        </a:rPr>
                        <a:t>2,500+</a:t>
                      </a:r>
                    </a:p>
                  </a:txBody>
                  <a:tcPr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Total demo data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~50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~10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Scripted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~24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4E79"/>
                          </a:solidFill>
                          <a:latin typeface="Calibri"/>
                        </a:rPr>
                        <a:t>2,290+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Activity categories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4E79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Held-out generalization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4E79"/>
                          </a:solidFill>
                          <a:latin typeface="Calibri"/>
                        </a:rPr>
                        <a:t>Yes — disjoint target scenes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Lifelong learning protocol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4E79"/>
                          </a:solidFill>
                          <a:latin typeface="Calibri"/>
                        </a:rPr>
                        <a:t>Yes — 4-phase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* LIBERO numbers from published paper.  RoboCasa365 from ICLR 2026 paper.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Calibri"/>
              </a:rPr>
              <a:t>Why RoboCasa365 for Long-Horizon Reasoning?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1274552" cy="127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5486400" cy="109728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08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1. Sequential Decision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Tasks require 2–10+ sub-goals in the correct order. Failure at any step cascades — no partial credit from atomic success.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822960"/>
            <a:ext cx="5486400" cy="109728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5352" y="822960"/>
            <a:ext cx="508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896112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2. Semantic Reasoning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188720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Tasks like LoadFridgeFifo, BeverageSorting, FilterMicrowavableItem require understanding categories, not only mimicking motor patterns.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5486400" cy="109728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508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84832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3. Planning Under Partial Observability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377440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Fridge compartments, drawers, and cabinets are hidden. The robot must plan retrieval sequences without full state visibility.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2011680"/>
            <a:ext cx="5486400" cy="109728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2011680"/>
            <a:ext cx="508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084832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4. Temporal Depth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377440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Tasks span 200–4,800 control steps per episode at 20 Hz. This directly tests long-horizon credit assignment in policy learning.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00400"/>
            <a:ext cx="5486400" cy="109728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200400"/>
            <a:ext cx="508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73552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5. Compositional Generalization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566160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Composite-Unseen tasks test whether learned skills compose to novel task sequences — a key measure of genuine planning vs. memorization.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3200400"/>
            <a:ext cx="5486400" cy="109728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5352" y="3200400"/>
            <a:ext cx="508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3273552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6. Realistic Action 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566160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Appliance control (knobs, lids, buttons) + navigation + dexterous grasping = the full action vocabulary of household manipulation robots.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Calibri"/>
              </a:rPr>
              <a:t>Benchmark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1274552" cy="127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Multi-Task Learning  (train on 300 tasks, 482 hrs human demos)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1828800"/>
                <a:gridCol w="1828800"/>
                <a:gridCol w="32918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Task Split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Diffusion Policy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π₀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π₀.₅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GR00T N1.5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Atomic-Seen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15.7%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34.6%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39.6%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75E23"/>
                          </a:solidFill>
                          <a:latin typeface="Calibri"/>
                        </a:rPr>
                        <a:t>43.0%</a:t>
                      </a:r>
                    </a:p>
                  </a:txBody>
                  <a:tcPr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Composite-Seen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75E23"/>
                          </a:solidFill>
                          <a:latin typeface="Calibri"/>
                        </a:rPr>
                        <a:t>9.6%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Composite-Unseen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1.25%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1.1%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75E23"/>
                          </a:solidFill>
                          <a:latin typeface="Calibri"/>
                        </a:rPr>
                        <a:t>4.4%</a:t>
                      </a:r>
                    </a:p>
                  </a:txBody>
                  <a:tcPr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Average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14.8%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16.9%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75E23"/>
                          </a:solidFill>
                          <a:latin typeface="Calibri"/>
                        </a:rPr>
                        <a:t>20.0%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432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Foundation Model Learning  (pretrain 2,290 hrs → fine-tune 50 target tasks)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06324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3474720"/>
                <a:gridCol w="347472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Task Split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Pretrain Only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Target Only (100%)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Pretrain + Target (100%)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Atomic-Seen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41.9%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60.6%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75E23"/>
                          </a:solidFill>
                          <a:latin typeface="Calibri"/>
                        </a:rPr>
                        <a:t>68.5%</a:t>
                      </a:r>
                    </a:p>
                  </a:txBody>
                  <a:tcPr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Composite-Seen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75E23"/>
                          </a:solidFill>
                          <a:latin typeface="Calibri"/>
                        </a:rPr>
                        <a:t>40.6%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Composite-Unseen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33.3%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75E23"/>
                          </a:solidFill>
                          <a:latin typeface="Calibri"/>
                        </a:rPr>
                        <a:t>42.1%</a:t>
                      </a:r>
                    </a:p>
                  </a:txBody>
                  <a:tcPr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Average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15.1%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43.7%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75E23"/>
                          </a:solidFill>
                          <a:latin typeface="Calibri"/>
                        </a:rPr>
                        <a:t>51.1%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663440"/>
            <a:ext cx="11247120" cy="685800"/>
          </a:xfrm>
          <a:prstGeom prst="rect">
            <a:avLst/>
          </a:prstGeom>
          <a:solidFill>
            <a:srgbClr val="FFF2CC"/>
          </a:solidFill>
          <a:ln w="9525">
            <a:solidFill>
              <a:srgbClr val="C5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709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Key finding: Even the best model (GR00T N1.5) achieves only 9.6% on composite tasks in the multi-task setting. These tasks are genuinely challenging and leave significant room for improvement.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Calibri"/>
              </a:rPr>
              <a:t>Three Benchmarking Protocols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1274552" cy="127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3657600" cy="5029200"/>
          </a:xfrm>
          <a:prstGeom prst="rect">
            <a:avLst/>
          </a:prstGeom>
          <a:noFill/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3657600" cy="411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7782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1. Multi-Task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5204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Goal: Learn a single policy across all 300 tasks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Training data: 482 hrs human demos, 300 tasks, 100 demos/task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Evaluation: Pretrain kitchen scenes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Measures: Breadth of multi-task generalization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822960"/>
            <a:ext cx="3657600" cy="5029200"/>
          </a:xfrm>
          <a:prstGeom prst="rect">
            <a:avLst/>
          </a:prstGeom>
          <a:noFill/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822960"/>
            <a:ext cx="36576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87782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2. Foundation Model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325880"/>
            <a:ext cx="35204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Goal: Pretrain on large data, fine-tune on 50 target tasks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Pretrain: 482 hrs human + 1,615 hrs MimicGen synthetic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Fine-tune: 193 hrs across 3 splits (atomic-seen, composite-seen, unseen)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Evaluation: Held-out target kitchen scenes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Measures: Transfer learning, data efficiency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822960"/>
            <a:ext cx="3657600" cy="5029200"/>
          </a:xfrm>
          <a:prstGeom prst="rect">
            <a:avLst/>
          </a:prstGeom>
          <a:noFill/>
          <a:ln w="15240">
            <a:solidFill>
              <a:srgbClr val="C5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822960"/>
            <a:ext cx="3657600" cy="411480"/>
          </a:xfrm>
          <a:prstGeom prst="rect">
            <a:avLst/>
          </a:prstGeom>
          <a:solidFill>
            <a:srgbClr val="C5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87782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3. Lifelong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325880"/>
            <a:ext cx="35204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Goal: Sequentially learn harder tasks without catastrophic forgetting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Phase 1: Atomic tasks       (~41.5% success)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Phase 2: 2–3 stage tasks   (~24.5%)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Phase 3: 4–5 stage tasks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Phase 4: 6+ stage tasks</a:t>
            </a:r>
          </a:p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Measures: Continual learning, backward transfer (forgetting)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Supported models: Diffusion Policy · π₀ / π₀.₅ (OpenPI) · GR00T N1.5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Calibri"/>
              </a:rPr>
              <a:t>Atomic Task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1274552" cy="127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Single-skill manipulation tasks — 65 tasks total, horizon 200–700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5568696" cy="210312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477256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2423160"/>
            <a:ext cx="5458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TurnOnStove  [Atomic · 300 steps]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679192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Turn on the rear left burner of the stove.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8776" y="960120"/>
            <a:ext cx="5568696" cy="210312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ntact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005840"/>
            <a:ext cx="5477256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2423160"/>
            <a:ext cx="5458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PickPlaceCounterToStove  [Atomic · 400 steps]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2679192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Pick the onion from the plate and place it in the pan.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46120"/>
            <a:ext cx="5568696" cy="210312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ntact_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91840"/>
            <a:ext cx="5477256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4632" y="4709160"/>
            <a:ext cx="5458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PickPlaceCounterToCabinet  [Atomic · 500 steps]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4965192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Pick the cereal from the counter and place it in the cabinet.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Calibri"/>
              </a:rPr>
              <a:t>Pure Manipulation — Short to Medium Composite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1274552" cy="127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Composite tasks without navigation, horizon 1,100–1,200 steps (~55–60 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5568696" cy="210312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477256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2423160"/>
            <a:ext cx="5458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WashLettuce  [Composite · 1100 steps]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679192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Wash the lettuce in the sink by running water over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8776" y="960120"/>
            <a:ext cx="5568696" cy="210312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ntact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005840"/>
            <a:ext cx="5477256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2423160"/>
            <a:ext cx="5458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LoadDishwasher  [Composite · 1200 steps]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2679192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Pick up the cup and bowl from the counter, place them in the dishwasher, and close the dishwasher door.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46120"/>
            <a:ext cx="5568696" cy="210312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ntact_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91840"/>
            <a:ext cx="5477256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4632" y="4709160"/>
            <a:ext cx="5458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SearingMeat  [Composite · 2900 steps]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4965192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Grab the pan from the cabinet and place it on the rear right burner on the stove. Then place the chicken drumstick on…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Calibri"/>
              </a:rPr>
              <a:t>Pure Manipulation — Long Composite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1274552" cy="127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Composite tasks, horizon 3,300–4,800 steps (~165–240 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5568696" cy="210312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477256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2423160"/>
            <a:ext cx="5458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BeverageSorting  [Composite · 3500 steps]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679192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Sort all alcoholic drinks to one cabinet, and non-alcoholic drinks to the other.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8776" y="960120"/>
            <a:ext cx="5568696" cy="210312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ntact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005840"/>
            <a:ext cx="5477256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2423160"/>
            <a:ext cx="5458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DivideBuffetTrays  [Composite · 4800 steps]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2679192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Gather the lemon wedge and cucumber from the fridge and place them on a tray on the dining counter. Then gather the f…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Calibri"/>
              </a:rPr>
              <a:t>Pure Manipulation — Full Range: Short to Longest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1274552" cy="127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10 tasks across the full horizon spectrum: 200 steps (10 s) → 4,800 steps (240 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011680"/>
                <a:gridCol w="1005840"/>
                <a:gridCol w="822960"/>
                <a:gridCol w="822960"/>
                <a:gridCol w="6263640"/>
              </a:tblGrid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Description (episode 0)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TurnOnToaster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Atomic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 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Push down the lever of the toaster to turn it on.</a:t>
                      </a:r>
                    </a:p>
                  </a:txBody>
                  <a:tcPr>
                    <a:noFill/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TurnOnStove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Atomic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15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Turn on the rear left burner of the stove.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PickPlaceCounterToStove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Atomic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20 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Pick the onion from the plate and place it in the pan.</a:t>
                      </a:r>
                    </a:p>
                  </a:txBody>
                  <a:tcPr>
                    <a:noFill/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PickPlaceCounterToCabinet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Atomic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25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Pick the cereal from the counter and place it in the cabinet.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OpenCabinet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Atomic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35 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Open the cabinet door.</a:t>
                      </a:r>
                    </a:p>
                  </a:txBody>
                  <a:tcPr>
                    <a:noFill/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WashLettuce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Composite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55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Wash the lettuce in the sink by running water over it.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LoadDishwasher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Composite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60 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Pick up the cup and bowl from the counter, place them in the dishwasher, and close the dis</a:t>
                      </a:r>
                    </a:p>
                  </a:txBody>
                  <a:tcPr>
                    <a:noFill/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PrepareCoffee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Composite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60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Pick the mug from the cabinet, place it under the coffee machine dispenser, and press the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SearingMeat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Composite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2,900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145 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Grab the pan from the cabinet and place it on the rear right burner on the stove. Then pla</a:t>
                      </a:r>
                    </a:p>
                  </a:txBody>
                  <a:tcPr>
                    <a:noFill/>
                  </a:tcPr>
                </a:tc>
              </a:tr>
              <a:tr h="4821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DivideBuffetTrays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Composite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4,800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240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Gather the lemon wedge and cucumber from the fridge and place them on a tray on the dining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Calibri"/>
              </a:rPr>
              <a:t>Navigation Task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1274552" cy="127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4 tasks requiring mobile-base navigation between distant kitchen fixtures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5568696" cy="210312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477256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2423160"/>
            <a:ext cx="5458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NavigateKitchen  [Atomic · 300 steps]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679192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Navigate to the fridge.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8776" y="960120"/>
            <a:ext cx="5568696" cy="210312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ntact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005840"/>
            <a:ext cx="5477256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2423160"/>
            <a:ext cx="5458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PlaceDishesBySink  [Composite · 1600 steps]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2679192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Pick the cup and bowl from the counter and place them on the counter next to the sink.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46120"/>
            <a:ext cx="5568696" cy="210312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ntact_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91840"/>
            <a:ext cx="5477256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4632" y="4709160"/>
            <a:ext cx="5458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HotDogSetup  [Composite · 2800 steps]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4965192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Move the hot dog bun to the plate on the dining table and place the {condiment_lang} next to that plate. Then navigat…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Calibri"/>
              </a:rPr>
              <a:t>10 Longest Tasks — Visual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1274552" cy="127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All composite tasks, horizon 3,300–4,800 steps (165–240 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5568696" cy="210312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477256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2423160"/>
            <a:ext cx="5458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DivideBuffetTrays  [Composite · 4800 steps]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679192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Gather the lemon wedge and cucumber from the fridge and place them on a tray on the dining counter. Then gather the f…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8776" y="960120"/>
            <a:ext cx="5568696" cy="210312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1005840"/>
            <a:ext cx="5477256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2423160"/>
            <a:ext cx="5458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DivideBuffetTrays  [Composite · 4800 steps]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2679192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Gather the lemon wedge and cucumber from the fridge and place them on a tray on the dining counter. Then gather the f…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46120"/>
            <a:ext cx="5568696" cy="210312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ntact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5477256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4632" y="4709160"/>
            <a:ext cx="5458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SetBowlsForSoup  [Composite · 3600 steps]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4965192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Move the bowls from the cabinet to the plates on the dining 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3246120"/>
            <a:ext cx="5568696" cy="2103120"/>
          </a:xfrm>
          <a:prstGeom prst="rect">
            <a:avLst/>
          </a:prstGeom>
          <a:noFill/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ontact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291840"/>
            <a:ext cx="5477256" cy="1371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81928" y="4709160"/>
            <a:ext cx="5458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  <a:latin typeface="Calibri"/>
              </a:rPr>
              <a:t>SetBowlsForSoup  [Composite · 3600 steps]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4965192"/>
            <a:ext cx="5458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Move the bowls from the cabinet to the plates on the dining table.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Calibri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1274552" cy="127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658368"/>
          </a:xfrm>
          <a:prstGeom prst="rect">
            <a:avLst/>
          </a:prstGeom>
          <a:solidFill>
            <a:srgbClr val="D6E4F0"/>
          </a:solidFill>
          <a:ln w="508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941832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365 tasks (65 atomic + 300 composite) · 60 categories · 2,500+ scenes · 2,290+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17904"/>
            <a:ext cx="1124712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3677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Task Duration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636776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10–240 s per episode (avg 52 s) — up to 4,800 control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12848"/>
            <a:ext cx="11247120" cy="658368"/>
          </a:xfrm>
          <a:prstGeom prst="rect">
            <a:avLst/>
          </a:prstGeom>
          <a:solidFill>
            <a:srgbClr val="D6E4F0"/>
          </a:solidFill>
          <a:ln w="508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331720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4 tasks require mobile-base navigation; 313/317 (98.7%) are pure manipulation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07792"/>
            <a:ext cx="1124712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2666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026664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675 hrs human + 1,615 hrs MimicGen synthetic = 2,290+ total hours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02736"/>
            <a:ext cx="11247120" cy="658368"/>
          </a:xfrm>
          <a:prstGeom prst="rect">
            <a:avLst/>
          </a:prstGeom>
          <a:solidFill>
            <a:srgbClr val="D6E4F0"/>
          </a:solidFill>
          <a:ln w="508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72160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Benchmarking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721608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3 protocols: Multi-Task Learning · Foundation Model Learning · Lifelong Learning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97680"/>
            <a:ext cx="1124712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41655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Best SOTA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416552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GR00T N1.5: 43% atomic-seen, 9.6% composite-seen, 4.4% composite-unseen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92624"/>
            <a:ext cx="11247120" cy="658368"/>
          </a:xfrm>
          <a:prstGeom prst="rect">
            <a:avLst/>
          </a:prstGeom>
          <a:solidFill>
            <a:srgbClr val="D6E4F0"/>
          </a:solidFill>
          <a:ln w="508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11149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Why use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5111496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Long-horizon, semantically diverse, compositionally challenging — closest to real household robots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Calibri"/>
              </a:rPr>
              <a:t>robocasa.ai  ·  arxiv:2603.04356  ·  ICLR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
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F4E79"/>
                </a:solidFill>
                <a:latin typeface="Calibri"/>
              </a:rPr>
              <a:t>RoboCasa365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0" y="2331720"/>
            <a:ext cx="7589520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42316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262626"/>
                </a:solidFill>
                <a:latin typeface="Calibri"/>
              </a:rPr>
              <a:t>A Large-Scale Benchmark for Long-Horizon Robot Learning in Kitchen Environments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46120"/>
            <a:ext cx="2651760" cy="12344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365 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Calibri"/>
              </a:rPr>
              <a:t>65 atomic + 300 composite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3246120"/>
            <a:ext cx="2651760" cy="12344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2,290+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9136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Calibri"/>
              </a:rPr>
              <a:t>demo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246120"/>
            <a:ext cx="2651760" cy="12344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2,500+ Scenes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9136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Calibri"/>
              </a:rPr>
              <a:t>diverse kitchen layouts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3246120"/>
            <a:ext cx="2651760" cy="12344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ICLR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9136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Calibri"/>
              </a:rPr>
              <a:t>arxiv:2603.04356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robocasa.ai   ·   Hossein Souri et al., ICLR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RoboCasa365 —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626"/>
                </a:solidFill>
                <a:latin typeface="Calibri"/>
              </a:rPr>
              <a:t>RoboCasa365 is a large-scale simulation benchmark for training and evaluating generalist robot policies in kitchen environments. The robot must combine mobile navigation, dexterous manipulation, and long-horizon task planning across 365 diverse tasks.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365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Total Tasks
(65 atomic + 300 composite)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242316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Activity Categories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2,500+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Unique Kitchen Scenes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2,290+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Hours of Demo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2,200+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3D Kitchen Objects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8700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700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20 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Control Frequency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78892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Robot:          Franka Panda arm on Omron mobile base (PandaOmron)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Simulator:      MuJoCo via RoboSuite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Pretrain data:  100 human demos × 300 tasks = ~30,000 episodes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Target data:    500 human demos × 50 tasks = ~25,000 episodes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Synthetic data: ~10,000 MimicGen demos × 60 atomic tasks = 600,000+ episodes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Evaluation:     3 protocols — Multi-Task, Foundation Model, Lifelong Learning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Task Taxonomy: Atomic vs. Composite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5486400" cy="51206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Atomic Tasks (65 total)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80160"/>
            <a:ext cx="5212080" cy="12700"/>
          </a:xfrm>
          <a:prstGeom prst="rect">
            <a:avLst/>
          </a:prstGeom>
          <a:noFill/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Single-skill, single-step tasks across 14 fixture types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Navigation:       NavigateKitchen (1 task)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Pick &amp; Place:     20 variants (counter ↔ fridge, sink, oven, microwave…)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Door / Drawer:    Open/Close for 6 appliance types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Appliance ctrl:   Stove knobs, faucets, blender, toaster…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Fine manipulation: Adjust temp, turn spout, slide racks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Horizon:  200 – 700 steps (10 – 35 s @ 20 Hz)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Demos:    ~100 human demos/task · 6,500 total episodes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MimicGen: 60/65 tasks → ~10,000 synthetic demos 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822960"/>
            <a:ext cx="5486400" cy="5120640"/>
          </a:xfrm>
          <a:prstGeom prst="rect">
            <a:avLst/>
          </a:prstGeom>
          <a:noFill/>
          <a:ln w="12700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9144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55000"/>
                </a:solidFill>
                <a:latin typeface="Calibri"/>
              </a:rPr>
              <a:t>Composite Tasks (300 total — 60 categories)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82512" y="1280160"/>
            <a:ext cx="5212080" cy="12700"/>
          </a:xfrm>
          <a:prstGeom prst="rect">
            <a:avLst/>
          </a:prstGeom>
          <a:noFill/>
          <a:ln w="6350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37160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Multi-step long-horizon tasks — 2 to 10+ sequential sub-goals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Require planning over a sequence of manipulation skills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Cover 60 activity categories (cooking, cleaning, organizing…)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Example: MakeBananaMilkshake =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    open fridge → pick banana → place in blender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    → close lid → turn on blender → …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Horizon:  400 – 4,800 steps (20 – 240 s @ 20 Hz)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Demos:    ~100 human demos/task · 31,922 total episodes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Target:   50 tasks held-out for evaluation (16 composite seen,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          16 composite unseen)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Navigation &amp; Mobile Manipulation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  <a:latin typeface="Calibri"/>
              </a:rPr>
              <a:t>The robot uses an Omron mobile base for navigation. However, the vast majority of tasks are pure manipulation — the robot starts near the relevant fixture and uses only its arm.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77724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200400"/>
                <a:gridCol w="329184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Tasks Requiring Navigation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Pure Manipulation Tasks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 / 65   (1.5%)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64 / 65   (98.5%)</a:t>
                      </a:r>
                    </a:p>
                  </a:txBody>
                  <a:tcPr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 / 252  (1.2%)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249 / 252  (98.8%)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4 / 317  (1.3%)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313 / 317  (98.7%)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3464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Tasks that genuinely require mobile-base navigation: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182112"/>
          <a:ext cx="1124712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920240"/>
                <a:gridCol w="64008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NavigateKitchen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 steps  (15 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Drive the mobile base to a target kitchen fixture</a:t>
                      </a:r>
                    </a:p>
                  </a:txBody>
                  <a:tcPr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ServeTea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900 steps  (45 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teacup from microwave, navigate to dining table, place on saucer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PlaceDishesBySink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1,600 steps  (80 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Collect cup and bowl from counter, bring to the sink area</a:t>
                      </a:r>
                    </a:p>
                  </a:txBody>
                  <a:tcPr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HotDogSetup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2,800 steps  (140 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Gather bun from counter + sausage from fridge, deliver to dining table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0292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These tasks use kitchen layouts where the destination fixture (dining table) is placed in a separate area, requiring the robot to traverse the kitchen with its mobile base.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Target Evaluation Tasks —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50 held-out tasks used for benchmarking across 3 splits · 10 unseen kitchen scenes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51760" cy="114300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Calibri"/>
              </a:rPr>
              <a:t>Total target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18 atomic + 32 composite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960120"/>
            <a:ext cx="2651760" cy="114300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005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75E23"/>
                </a:solidFill>
                <a:latin typeface="Calibri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5087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Calibri"/>
              </a:rPr>
              <a:t>Pure manipulation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98% of target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960120"/>
            <a:ext cx="2651760" cy="114300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005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55000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5087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Calibri"/>
              </a:rPr>
              <a:t>Navigation 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NavigateKitchen (atomic)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960120"/>
            <a:ext cx="2651760" cy="114300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005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02868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5087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Calibri"/>
              </a:rPr>
              <a:t>Held-out scenes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7830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Disjoint from training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228600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31520"/>
                <a:gridCol w="1188720"/>
                <a:gridCol w="3017520"/>
                <a:gridCol w="45720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 type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Horizon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Navigation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Atomic-seen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300–700 steps  (15–35 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 task (NavigateKitchen)</a:t>
                      </a:r>
                    </a:p>
                  </a:txBody>
                  <a:tcPr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Composite-seen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800–2,900 steps  (40–145 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Composite-unseen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800–2,900 steps  (40–135 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300–2,900 steps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55000"/>
                          </a:solidFill>
                          <a:latin typeface="Calibri"/>
                        </a:rPr>
                        <a:t>1 / 50  (2%)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57200" y="40233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Atomic-seen vs. Composite-seen vs. Composite-unseen: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434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Atomic-seen:        18 atomic tasks the model was trained on — tests atomic skill retention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Composite-seen:     16 composite tasks the model was trained on — tests multi-step execution on held-out scenes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Composite-unseen:   16 composite tasks NEVER seen during training — tests compositional generalization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852160"/>
            <a:ext cx="11247120" cy="566928"/>
          </a:xfrm>
          <a:prstGeom prst="rect">
            <a:avLst/>
          </a:prstGeom>
          <a:solidFill>
            <a:srgbClr val="FFF2CC"/>
          </a:solidFill>
          <a:ln w="9525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97880"/>
            <a:ext cx="10972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Composite-unseen is the hardest split: tasks are novel compositions of learned skills evaluated in unseen kitchen scenes. Best model (GR00T N1.5) achieves only 4.4%.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Target Evaluation Tasks — Full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3703320" cy="32918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85953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Atomic-seen  (18 tasks)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3444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CloseBlenderLid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30s  (600 steps)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9961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4533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CloseFridge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54533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30s  (600 steps)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1051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85623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CloseToasterOvenDoor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8562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2140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1671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CoffeeSetupMug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16712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20s  (400 steps)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3230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47802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55000"/>
                </a:solidFill>
                <a:latin typeface="Calibri"/>
              </a:rPr>
              <a:t>NavigateKitchen  ★NAV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47802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74320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27889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OpenCabinet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7889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35s  (700 steps)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54096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09981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OpenDrawer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0998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25s  (500 steps)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364992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41071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OpenStandMixerHead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41071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75888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3721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PickPlaceCounterToCabinet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372160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25s  (500 steps)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986784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403250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PickPlaceCounterToStove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03250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20s  (400 steps)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29768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" y="434340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PickPlaceDrawerToCounter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434340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25s  (500 steps)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60857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465429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PickPlaceSinkToCounter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465429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30s  (600 steps)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91947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0352" y="49651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PickPlaceToasterToCounter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9651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20s  (400 steps)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23036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0352" y="527608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SlideDishwasherRack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52760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54126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558698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TurnOffStove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558698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25s  (500 steps)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585216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0352" y="589788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TurnOnElectricKettle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589788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6163056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" y="620877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TurnOnMicrowave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620877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6473952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0352" y="651967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TurnOnSinkFaucet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51967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20s  (400 steps)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24528" y="822960"/>
            <a:ext cx="370332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97680" y="85953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Composite-seen  (16 tasks)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24528" y="118872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97680" y="123444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DeliverStraw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67728" y="123444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85s  (1700 steps)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24528" y="149961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97680" y="154533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GetToastedBread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67728" y="154533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100s  (2000 steps)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24528" y="181051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97680" y="185623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KettleBoiling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67728" y="18562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50s  (1000 steps)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24528" y="212140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97680" y="21671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LoadDishwasher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67728" y="216712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60s  (1200 steps)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24528" y="243230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97680" y="247802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PackIdenticalLunches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67728" y="247802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130s  (2600 steps)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224528" y="274320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97680" y="27889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PreSoakPan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67728" y="27889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80s  (1600 steps)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24528" y="3054096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97680" y="309981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PrepareCoffee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67728" y="30998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60s  (1200 steps)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24528" y="3364992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297680" y="341071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RinseSinkBasin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67728" y="341071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45s  (900 steps)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224528" y="3675888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297680" y="3721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ScrubCuttingBoard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67728" y="372160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40s  (800 steps)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24528" y="3986784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97680" y="403250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SearingMeat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67728" y="403250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145s  (2900 steps)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24528" y="429768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97680" y="434340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SetUpCuttingStation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67728" y="434340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80s  (1600 steps)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24528" y="460857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297680" y="465429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StackBowlsCabinet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67728" y="465429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70s  (1400 steps)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24528" y="491947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97680" y="49651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SteamInMicrowave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67728" y="49651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70s  (1400 steps)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224528" y="523036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97680" y="527608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StirVegetables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967728" y="52760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80s  (1600 steps)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24528" y="554126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97680" y="558698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StoreLeftoversInBowl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67728" y="558698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85s  (1700 steps)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224528" y="585216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97680" y="589788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WashLettuce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67728" y="589788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55s  (1100 steps)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91856" y="822960"/>
            <a:ext cx="3703320" cy="329184"/>
          </a:xfrm>
          <a:prstGeom prst="rect">
            <a:avLst/>
          </a:prstGeom>
          <a:solidFill>
            <a:srgbClr val="C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065008" y="85953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Composite-unseen  (16 tasks)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991856" y="118872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065008" y="123444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ArrangeBreadBasket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735056" y="123444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145s  (2900 steps)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991856" y="149961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065008" y="154533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ArrangeTea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735056" y="154533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75s  (1500 steps)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991856" y="181051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065008" y="185623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BreadSelection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735056" y="18562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65s  (1300 steps)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991856" y="212140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65008" y="21671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CategorizeCondiments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35056" y="216712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55s  (1100 steps)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991856" y="243230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065008" y="247802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CuttingToolSelection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735056" y="247802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40s  (800 steps)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91856" y="274320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065008" y="27889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GarnishPancake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735056" y="27889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90s  (1800 steps)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991856" y="3054096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065008" y="309981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GatherTableware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735056" y="30998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75s  (1500 steps)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991856" y="3364992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065008" y="341071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HeatKebabSandwich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341071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90s  (1800 steps)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991856" y="3675888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065008" y="3721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MakeIceLemonade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35056" y="372160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100s  (2000 steps)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991856" y="3986784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065008" y="403250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PanTransfer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735056" y="403250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60s  (1200 steps)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991856" y="429768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065008" y="434340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PortionHotDogs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735056" y="434340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75s  (1500 steps)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991856" y="460857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65008" y="465429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RecycleBottlesByType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735056" y="465429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95s  (1900 steps)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91856" y="491947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65008" y="49651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SeparateFreezerRack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735056" y="49651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80s  (1600 steps)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991856" y="523036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65008" y="527608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WaffleReheat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35056" y="52760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135s  (2700 steps)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991856" y="554126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065008" y="558698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WashFruitColander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735056" y="558698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105s  (2100 steps)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991856" y="585216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065008" y="589788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WeighIngredients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735056" y="589788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100s  (2000 steps)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Training &amp; Evaluation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Dataset splits used for pretraining and held-out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Training Data  (Pretrain Split)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07592"/>
          <a:ext cx="112471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1371600"/>
                <a:gridCol w="1554480"/>
                <a:gridCol w="420624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# Tasks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Demos / 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Total Demos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Total Hours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Human teleoperation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Pretrain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~30,000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482 hrs</a:t>
                      </a:r>
                    </a:p>
                  </a:txBody>
                  <a:tcPr>
                    <a:noFill/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MimicGen (synthetic)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Pretrain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~600,000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1,615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~630,000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~2,097 hrs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8036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Evaluation Data  (Target Split — RoboCasa365, ICLR 2026)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227832"/>
          <a:ext cx="1124712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1828800"/>
                <a:gridCol w="1371600"/>
                <a:gridCol w="393192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# Tasks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Subset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Demos / 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Total Demos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Human teleoperation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Atomic-seen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~500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~9,000</a:t>
                      </a:r>
                    </a:p>
                  </a:txBody>
                  <a:tcPr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Human teleoperation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Composite-seen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~8,000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Human teleoperation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Composite-unseen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~500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~8,000</a:t>
                      </a:r>
                    </a:p>
                  </a:txBody>
                  <a:tcPr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~25,000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5074920"/>
            <a:ext cx="11247120" cy="685800"/>
          </a:xfrm>
          <a:prstGeom prst="rect">
            <a:avLst/>
          </a:prstGeom>
          <a:solidFill>
            <a:srgbClr val="D6E4F0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1206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Note: The original RoboCasa (RSS 2024, arxiv:2406.02523) used 100 evaluation tasks. RoboCasa365 (ICLR 2026, arxiv:2603.04356) defines a new 50-task target split with held-out kitchen scenes and 500 demos/task for more rigorous evaluation.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Task Durations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Composite task duration distribution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70432"/>
          <a:ext cx="53035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Duration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Percentage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&lt; 30 s  (very short)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noFill/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 – 60 s  (short)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 – 100 s  (medium)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noFill/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&gt; 100 s  (long)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249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62626"/>
                </a:solidFill>
                <a:latin typeface="Calibri"/>
              </a:rPr>
              <a:t>Summary statistics: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035808"/>
          <a:ext cx="530352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Max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52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240 s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8229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10 longest tasks (by max horizon)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1170432"/>
          <a:ext cx="5486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468880"/>
                <a:gridCol w="1005840"/>
                <a:gridCol w="1554480"/>
              </a:tblGrid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Steps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DivideBuffetTrays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4,800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240 s</a:t>
                      </a:r>
                    </a:p>
                  </a:txBody>
                  <a:tcPr>
                    <a:noFill/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RecycleSodaCans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4,500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225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PrepareDrinkStation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3,900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195 s</a:t>
                      </a:r>
                    </a:p>
                  </a:txBody>
                  <a:tcPr>
                    <a:noFill/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SetBowlsForSoup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3,600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180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SpicyMarinade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3,600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180 s</a:t>
                      </a:r>
                    </a:p>
                  </a:txBody>
                  <a:tcPr>
                    <a:noFill/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BeverageSorting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PrepareCocktailStation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175 s</a:t>
                      </a:r>
                    </a:p>
                  </a:txBody>
                  <a:tcPr>
                    <a:noFill/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ArrangeUtensilsByType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3,400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ReturnWashingSupplies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3,400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170 s</a:t>
                      </a:r>
                    </a:p>
                  </a:txBody>
                  <a:tcPr>
                    <a:noFill/>
                  </a:tcPr>
                </a:tc>
              </a:tr>
              <a:tr h="299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ClearSink / PackFoodByTemp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3,300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Benchmark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82296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1417320"/>
                <a:gridCol w="1188720"/>
                <a:gridCol w="1097280"/>
                <a:gridCol w="406908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LIBERO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LIBERO-Long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MetaWorld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Calvin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RoboCasa365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Total tasks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365</a:t>
                      </a:r>
                    </a:p>
                  </a:txBody>
                  <a:tcPr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Long-horizon tasks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4–6 steps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Chained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300 (2–10+ steps)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Typical episode length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15–30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60–120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5–15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30–60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10–240 s (avg 52 s)</a:t>
                      </a:r>
                    </a:p>
                  </a:txBody>
                  <a:tcPr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Navigation / mobile base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Yes — full mobile base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Scene diversity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Single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2,500+</a:t>
                      </a:r>
                    </a:p>
                  </a:txBody>
                  <a:tcPr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Total demo data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~50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Scripted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~24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2,290+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Activity categories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Held-out generalization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Yes — disjoint target scenes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Lifelong learning protocol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Yes — 4-phase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* LIBERO numbers from published paper.  RoboCasa365 from ICLR 2026 paper.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Why RoboCasa365 for Long-Horizon Reasoning?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2296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961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1. Sequential Decision Chains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Tasks require 2–10+ sub-goals in the correct order. Failure at any step cascades — no partial credit from atomic success.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82296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2" y="82296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8961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2. Semantic Reasoning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18872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Tasks like LoadFridgeFifo, BeverageSorting, FilterMicrowavableItem require understanding categories, not only mimicking motor patterns.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1168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8483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3. Planning Under Partial Observability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7744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Fridge compartments, drawers, and cabinets are hidden. The robot must plan retrieval sequences without full state visibility.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201168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201168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208483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4. Temporal Depth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237744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Tasks span 200–4,800 control steps per episode at 20 Hz. This directly tests long-horizon credit assignment in policy learning.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0040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20040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27355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5. Compositional Generalization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56616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Composite-Unseen tasks test whether learned skills compose to novel task sequences — a key measure of genuine planning vs. memorization.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352" y="320040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352" y="320040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36792" y="327355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6. Realistic Action Space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356616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Appliance control (knobs, lids, buttons) + navigation + dexterous grasping = the full action vocabulary of household manipulation robots.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Benchmark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Multi-Task Learning  (train on 300 tasks, 482 hrs human demos)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4300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1828800"/>
                <a:gridCol w="182880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 Split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Diffusion Policy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π₀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π₀.₅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GR00T N1.5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Atomic-Seen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15.7%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34.6%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39.6%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43.0%</a:t>
                      </a:r>
                    </a:p>
                  </a:txBody>
                  <a:tcPr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Composite-Seen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7.1%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Composite-Unseen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1.25%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4.4%</a:t>
                      </a:r>
                    </a:p>
                  </a:txBody>
                  <a:tcPr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Average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14.8%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432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Foundation Model Learning  (pretrain 2,290 hrs → fine-tune 50 target tasks)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0632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 Split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Pretrain Only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Target Only (100%)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Pretrain + Target (100%)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Atomic-Seen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41.9%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68.5%</a:t>
                      </a:r>
                    </a:p>
                  </a:txBody>
                  <a:tcPr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Composite-Seen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40.6%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Composite-Unseen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33.3%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42.1%</a:t>
                      </a:r>
                    </a:p>
                  </a:txBody>
                  <a:tcPr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Average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15.1%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43.7%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51.1%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663440"/>
            <a:ext cx="11247120" cy="685800"/>
          </a:xfrm>
          <a:prstGeom prst="rect">
            <a:avLst/>
          </a:prstGeom>
          <a:solidFill>
            <a:srgbClr val="FFF2CC"/>
          </a:solidFill>
          <a:ln w="9525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709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Key finding: Even the best model (GR00T N1.5) achieves only 9.6% on composite tasks in the multi-task setting. These tasks are genuinely challenging and leave significant room for improvement.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Three Benchmarking Protocols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3657600" cy="5029200"/>
          </a:xfrm>
          <a:prstGeom prst="rect">
            <a:avLst/>
          </a:prstGeom>
          <a:noFill/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22960"/>
            <a:ext cx="365760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77824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Multi-Task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3520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Goal: Learn a single policy across all 300 tasks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Training data: 482 hrs human demos, 300 tasks, 100 demos/task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Evaluation: Pretrain kitchen scenes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Measures: Breadth of multi-task generalization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822960"/>
            <a:ext cx="3657600" cy="5029200"/>
          </a:xfrm>
          <a:prstGeom prst="rect">
            <a:avLst/>
          </a:prstGeom>
          <a:noFill/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822960"/>
            <a:ext cx="36576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877824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Foundation Model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325880"/>
            <a:ext cx="3520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Goal: Pretrain on large data, fine-tune on 50 target tasks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Pretrain: 482 hrs human + 1,615 hrs MimicGen synthetic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Fine-tune: 193 hrs across 3 splits (atomic-seen, composite-seen, unseen)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Evaluation: Held-out target kitchen scenes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Measures: Transfer learning, data efficiency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822960"/>
            <a:ext cx="3657600" cy="5029200"/>
          </a:xfrm>
          <a:prstGeom prst="rect">
            <a:avLst/>
          </a:prstGeom>
          <a:noFill/>
          <a:ln w="15240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822960"/>
            <a:ext cx="3657600" cy="411480"/>
          </a:xfrm>
          <a:prstGeom prst="rect">
            <a:avLst/>
          </a:prstGeom>
          <a:solidFill>
            <a:srgbClr val="C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877824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Lifelong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325880"/>
            <a:ext cx="3520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Goal: Sequentially learn harder tasks without catastrophic forgetting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Phase 1: Atomic tasks       (~41.5% success)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Phase 2: 2–3 stage tasks   (~24.5%)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Phase 3: 4–5 stage tasks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Phase 4: 6+ stage tasks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Measures: Continual learning, backward transfer (forgetting)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Supported models: Diffusion Policy · π₀ / π₀.₅ (OpenPI) · GR00T N1.5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Atomic Task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Single-skill manipulation tasks — 65 tasks total, horizon 200–700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TurnOnStove  [Atomic · 300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Turn on the rear left burner of the stove.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PickPlaceCounterToStove  [Atomic · 400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Pick the onion from the plate and place it in the pan.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tact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91840"/>
            <a:ext cx="5477256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PickPlaceCounterToCabinet  [Atomic · 500 steps]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Pick the cereal from the counter and place it in the cabinet.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Pure Manipulation — Short to Medium Composite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Composite tasks without navigation, horizon 1,100–1,200 steps (~55–60 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WashLettuce  [Composite · 1100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Wash the lettuce in the sink by running water over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LoadDishwasher  [Composite · 1200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Pick up the cup and bowl from the counter, place them in the dishwasher, and close the dishwasher door.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tact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91840"/>
            <a:ext cx="5477256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SearingMeat  [Composite · 2900 steps]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Grab the pan from the cabinet and place it on the rear right burner on the stove. Then place the chicken drumstick on…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Pure Manipulation — Long Composite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Composite tasks, horizon 3,300–4,800 steps (~165–240 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BeverageSorting  [Composite · 3500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Sort all alcoholic drinks to one cabinet, and non-alcoholic drinks to the other.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DivideBuffetTrays  [Composite · 4800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Gather the lemon wedge and cucumber from the fridge and place them on a tray on the dining counter. Then gather the f…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Pure Manipulation — Full Range: Short to Longest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10 tasks across the full horizon spectrum: 200 steps (10 s) → 4,800 steps (240 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471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2011680"/>
                <a:gridCol w="1005840"/>
                <a:gridCol w="822960"/>
                <a:gridCol w="822960"/>
                <a:gridCol w="6263640"/>
              </a:tblGrid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Description (episode 0)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TurnOnToaster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Push down the lever of the toaster to turn it on.</a:t>
                      </a:r>
                    </a:p>
                  </a:txBody>
                  <a:tcPr>
                    <a:noFill/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TurnOnStove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Turn on the rear left burner of the stove.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PickPlaceCounterToStove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the onion from the plate and place it in the pan.</a:t>
                      </a:r>
                    </a:p>
                  </a:txBody>
                  <a:tcPr>
                    <a:noFill/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PickPlaceCounterToCabinet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the cereal from the counter and place it in the cabinet.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OpenCabinet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700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Open the cabinet door.</a:t>
                      </a:r>
                    </a:p>
                  </a:txBody>
                  <a:tcPr>
                    <a:noFill/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WashLettuce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Wash the lettuce in the sink by running water over it.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LoadDishwasher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up the cup and bowl from the counter, place them in the dishwasher, and close the dis</a:t>
                      </a:r>
                    </a:p>
                  </a:txBody>
                  <a:tcPr>
                    <a:noFill/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PrepareCoffee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the mug from the cabinet, place it under the coffee machine dispenser, and press the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SearingMeat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2,900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145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Grab the pan from the cabinet and place it on the rear right burner on the stove. Then pla</a:t>
                      </a:r>
                    </a:p>
                  </a:txBody>
                  <a:tcPr>
                    <a:noFill/>
                  </a:tcPr>
                </a:tc>
              </a:tr>
              <a:tr h="4821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DivideBuffetTrays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4,800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240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Gather the lemon wedge and cucumber from the fridge and place them on a tray on the dining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Navigation Task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4 tasks requiring mobile-base navigation between distant kitchen fixtures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NavigateKitchen  [Atomic · 300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Navigate to the fridge.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PlaceDishesBySink  [Composite · 1600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Pick the cup and bowl from the counter and place them on the counter next to the sink.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tact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91840"/>
            <a:ext cx="5477256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HotDogSetup  [Composite · 2800 steps]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Move the hot dog bun to the plate on the dining table and place the {condiment_lang} next to that plate. Then navigat…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10 Longest Tasks — Visual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All composite tasks, horizon 3,300–4,800 steps (165–240 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DivideBuffetTrays  [Composite · 4800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Gather the lemon wedge and cucumber from the fridge and place them on a tray on the dining counter. Then gather the f…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DivideBuffetTrays  [Composite · 4800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Gather the lemon wedge and cucumber from the fridge and place them on a tray on the dining counter. Then gather the f…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91840"/>
            <a:ext cx="5477256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SetBowlsForSoup  [Composite · 3600 steps]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Move the bowls from the cabinet to the plates on the dining table.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8776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291840"/>
            <a:ext cx="5477256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81928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SetBowlsForSoup  [Composite · 3600 steps]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Move the bowls from the cabinet to the plates on the dining table.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solidFill>
            <a:srgbClr val="D6E4F0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41832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941832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365 tasks (65 atomic + 300 composite) · 60 categories · 2,500+ scenes · 2,290+ hours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17904"/>
            <a:ext cx="1124712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36776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Task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636776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10–240 s per episode (avg 52 s) — up to 4,800 control steps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12848"/>
            <a:ext cx="11247120" cy="658368"/>
          </a:xfrm>
          <a:prstGeom prst="rect">
            <a:avLst/>
          </a:prstGeom>
          <a:solidFill>
            <a:srgbClr val="D6E4F0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331720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31720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4 tasks require mobile-base navigation; 313/317 (98.7%) are pure manipulation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07792"/>
            <a:ext cx="1124712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26664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026664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675 hrs human + 1,615 hrs MimicGen synthetic = 2,290+ total hours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02736"/>
            <a:ext cx="11247120" cy="658368"/>
          </a:xfrm>
          <a:prstGeom prst="rect">
            <a:avLst/>
          </a:prstGeom>
          <a:solidFill>
            <a:srgbClr val="D6E4F0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721608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Benchmarking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721608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3 protocols: Multi-Task Learning · Foundation Model Learning · Lifelong Learning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416552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Best SOTA 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4416552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GR00T N1.5: 43% atomic-seen, 9.6% composite-seen, 4.4% composite-unseen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92624"/>
            <a:ext cx="11247120" cy="658368"/>
          </a:xfrm>
          <a:prstGeom prst="rect">
            <a:avLst/>
          </a:prstGeom>
          <a:solidFill>
            <a:srgbClr val="D6E4F0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111496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Why use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5111496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Long-horizon, semantically diverse, compositionally challenging — closest to real household robots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Calibri"/>
              </a:rPr>
              <a:t>robocasa.ai  ·  arxiv:2603.04356  ·  ICLR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